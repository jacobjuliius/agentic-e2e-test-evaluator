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22808ddd4c4460" /><Relationship Type="http://schemas.openxmlformats.org/officeDocument/2006/relationships/extended-properties" Target="/docProps/app.xml" Id="R9a830cd7a6d6470d" /><Relationship Type="http://schemas.openxmlformats.org/officeDocument/2006/relationships/officeDocument" Target="/ppt/presentation.xml" Id="R058820114bac46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eb211b7d104f66"/>
  </p:sldMasterIdLst>
  <p:notesMasterIdLst>
    <p:notesMasterId xmlns:r="http://schemas.openxmlformats.org/officeDocument/2006/relationships" r:id="Rf929765988424852"/>
  </p:notesMasterIdLst>
  <p:sldIdLst>
    <p:sldId xmlns:r="http://schemas.openxmlformats.org/officeDocument/2006/relationships" id="256" r:id="Re4656ef65ac344c4"/>
    <p:sldId xmlns:r="http://schemas.openxmlformats.org/officeDocument/2006/relationships" id="257" r:id="R297407f687434e1a"/>
    <p:sldId xmlns:r="http://schemas.openxmlformats.org/officeDocument/2006/relationships" id="258" r:id="R34b0aa2b7e0f4f36"/>
    <p:sldId xmlns:r="http://schemas.openxmlformats.org/officeDocument/2006/relationships" id="259" r:id="R4a54b343435f404a"/>
    <p:sldId xmlns:r="http://schemas.openxmlformats.org/officeDocument/2006/relationships" id="260" r:id="Re13eaa2c1e914c68"/>
    <p:sldId xmlns:r="http://schemas.openxmlformats.org/officeDocument/2006/relationships" id="261" r:id="R944fbab01d7e4378"/>
    <p:sldId xmlns:r="http://schemas.openxmlformats.org/officeDocument/2006/relationships" id="262" r:id="R495ad28051b24397"/>
    <p:sldId xmlns:r="http://schemas.openxmlformats.org/officeDocument/2006/relationships" id="263" r:id="Rb7d4191b1ac54576"/>
    <p:sldId xmlns:r="http://schemas.openxmlformats.org/officeDocument/2006/relationships" id="264" r:id="Ra8b63aa787604532"/>
    <p:sldId xmlns:r="http://schemas.openxmlformats.org/officeDocument/2006/relationships" id="265" r:id="R9e56a94b6fda44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e67db3d65642c3" /><Relationship Type="http://schemas.openxmlformats.org/officeDocument/2006/relationships/slideMaster" Target="/ppt/slideMasters/slideMaster1.xml" Id="R46eb211b7d104f66" /><Relationship Type="http://schemas.openxmlformats.org/officeDocument/2006/relationships/notesMaster" Target="/ppt/notesMasters/notesMaster1.xml" Id="Rf929765988424852" /><Relationship Type="http://schemas.openxmlformats.org/officeDocument/2006/relationships/presProps" Target="/ppt/presProps.xml" Id="R0eab3d56bb274f0e" /><Relationship Type="http://schemas.openxmlformats.org/officeDocument/2006/relationships/tableStyles" Target="/ppt/tableStyles.xml" Id="R8fbd9cc2bd074bfa" /><Relationship Type="http://schemas.openxmlformats.org/officeDocument/2006/relationships/slide" Target="/ppt/slides/slide1.xml" Id="Re4656ef65ac344c4" /><Relationship Type="http://schemas.openxmlformats.org/officeDocument/2006/relationships/slide" Target="/ppt/slides/slide2.xml" Id="R297407f687434e1a" /><Relationship Type="http://schemas.openxmlformats.org/officeDocument/2006/relationships/slide" Target="/ppt/slides/slide3.xml" Id="R34b0aa2b7e0f4f36" /><Relationship Type="http://schemas.openxmlformats.org/officeDocument/2006/relationships/slide" Target="/ppt/slides/slide4.xml" Id="R4a54b343435f404a" /><Relationship Type="http://schemas.openxmlformats.org/officeDocument/2006/relationships/slide" Target="/ppt/slides/slide5.xml" Id="Re13eaa2c1e914c68" /><Relationship Type="http://schemas.openxmlformats.org/officeDocument/2006/relationships/slide" Target="/ppt/slides/slide6.xml" Id="R944fbab01d7e4378" /><Relationship Type="http://schemas.openxmlformats.org/officeDocument/2006/relationships/slide" Target="/ppt/slides/slide7.xml" Id="R495ad28051b24397" /><Relationship Type="http://schemas.openxmlformats.org/officeDocument/2006/relationships/slide" Target="/ppt/slides/slide8.xml" Id="Rb7d4191b1ac54576" /><Relationship Type="http://schemas.openxmlformats.org/officeDocument/2006/relationships/slide" Target="/ppt/slides/slide9.xml" Id="Ra8b63aa787604532" /><Relationship Type="http://schemas.openxmlformats.org/officeDocument/2006/relationships/slide" Target="/ppt/slides/slide10.xml" Id="R9e56a94b6fda44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0b1809441a48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75b941fd134fe0" /><Relationship Type="http://schemas.openxmlformats.org/officeDocument/2006/relationships/notesMaster" Target="/ppt/notesMasters/notesMaster1.xml" Id="R7084e20e03dd4c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9ec24274374491" /><Relationship Type="http://schemas.openxmlformats.org/officeDocument/2006/relationships/notesMaster" Target="/ppt/notesMasters/notesMaster1.xml" Id="Rd5c22eeb49bc49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3c788079ec4665" /><Relationship Type="http://schemas.openxmlformats.org/officeDocument/2006/relationships/notesMaster" Target="/ppt/notesMasters/notesMaster1.xml" Id="R1754b4412af044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f0a498341d49b5" /><Relationship Type="http://schemas.openxmlformats.org/officeDocument/2006/relationships/notesMaster" Target="/ppt/notesMasters/notesMaster1.xml" Id="R521edfb4126745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87bb181cd6468b" /><Relationship Type="http://schemas.openxmlformats.org/officeDocument/2006/relationships/notesMaster" Target="/ppt/notesMasters/notesMaster1.xml" Id="Rfe64cf49b1a940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ce32fc21884752" /><Relationship Type="http://schemas.openxmlformats.org/officeDocument/2006/relationships/notesMaster" Target="/ppt/notesMasters/notesMaster1.xml" Id="R919c59e755e14f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0d1d8f639a431a" /><Relationship Type="http://schemas.openxmlformats.org/officeDocument/2006/relationships/notesMaster" Target="/ppt/notesMasters/notesMaster1.xml" Id="Rdf27537e27294b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2f70d78a564527" /><Relationship Type="http://schemas.openxmlformats.org/officeDocument/2006/relationships/notesMaster" Target="/ppt/notesMasters/notesMaster1.xml" Id="R47aa169c033743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23c3d4b8a640a7" /><Relationship Type="http://schemas.openxmlformats.org/officeDocument/2006/relationships/notesMaster" Target="/ppt/notesMasters/notesMaster1.xml" Id="R1befb249aece4d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e597b30b3a4beb" /><Relationship Type="http://schemas.openxmlformats.org/officeDocument/2006/relationships/notesMaster" Target="/ppt/notesMasters/notesMaster1.xml" Id="Rfbd1b23a006a4c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09b39121d48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2f6a80258e42fe" /><Relationship Type="http://schemas.openxmlformats.org/officeDocument/2006/relationships/slideLayout" Target="/ppt/slideLayouts/slideLayout1.xml" Id="R255c623c028b47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5c623c028b47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97ec1edd24432" /><Relationship Type="http://schemas.openxmlformats.org/officeDocument/2006/relationships/notesSlide" Target="/ppt/notesSlides/notesSlide1.xml" Id="R1deb0c1a566d49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9028744ef4edc" /><Relationship Type="http://schemas.openxmlformats.org/officeDocument/2006/relationships/notesSlide" Target="/ppt/notesSlides/notesSlide2.xml" Id="Rc30ddd8abeae46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397792d034665" /><Relationship Type="http://schemas.openxmlformats.org/officeDocument/2006/relationships/notesSlide" Target="/ppt/notesSlides/notesSlide3.xml" Id="R0c323111d1964c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6be49181948ab" /><Relationship Type="http://schemas.openxmlformats.org/officeDocument/2006/relationships/notesSlide" Target="/ppt/notesSlides/notesSlide4.xml" Id="R5b4eda23c9d9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dea79518d47a8" /><Relationship Type="http://schemas.openxmlformats.org/officeDocument/2006/relationships/notesSlide" Target="/ppt/notesSlides/notesSlide5.xml" Id="Rc8a2f00a175443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33bcd38f245de" /><Relationship Type="http://schemas.openxmlformats.org/officeDocument/2006/relationships/notesSlide" Target="/ppt/notesSlides/notesSlide6.xml" Id="R23044d4fb5f849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0aaae5d7d43d1" /><Relationship Type="http://schemas.openxmlformats.org/officeDocument/2006/relationships/chart" Target="/ppt/slides/charts/chart1.xml" Id="Re6a8e604bcdb42db" /><Relationship Type="http://schemas.openxmlformats.org/officeDocument/2006/relationships/notesSlide" Target="/ppt/notesSlides/notesSlide7.xml" Id="Re83fc2dac3564c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2e03b6e964f4d" /><Relationship Type="http://schemas.openxmlformats.org/officeDocument/2006/relationships/chart" Target="/ppt/slides/charts/chart2.xml" Id="R777489afe94e48f0" /><Relationship Type="http://schemas.openxmlformats.org/officeDocument/2006/relationships/notesSlide" Target="/ppt/notesSlides/notesSlide8.xml" Id="Rc6db78efe1a24a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3d94c8d744fab" /><Relationship Type="http://schemas.openxmlformats.org/officeDocument/2006/relationships/notesSlide" Target="/ppt/notesSlides/notesSlide9.xml" Id="R763fe8558deb43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42af8d53c4aaa" /><Relationship Type="http://schemas.openxmlformats.org/officeDocument/2006/relationships/notesSlide" Target="/ppt/notesSlides/notesSlide10.xml" Id="Rf7d0fc6697644044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Static score</c:v>
          </c:tx>
          <c:spPr>
            <a:solidFill xmlns:a="http://schemas.openxmlformats.org/drawingml/2006/main">
              <a:srgbClr val="0EA5A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Bench 01</c:v>
              </c:pt>
              <c:pt idx="1">
                <c:v>Bench 02</c:v>
              </c:pt>
              <c:pt idx="2">
                <c:v>Bench 03</c:v>
              </c:pt>
              <c:pt idx="3">
                <c:v>Bench 05</c:v>
              </c:pt>
            </c:strLit>
          </c:cat>
          <c:val>
            <c:numLit>
              <c:formatCode>0</c:formatCode>
              <c:ptCount val="4"/>
              <c:pt idx="0">
                <c:v>9.95</c:v>
              </c:pt>
              <c:pt idx="1">
                <c:v>55.15</c:v>
              </c:pt>
              <c:pt idx="2">
                <c:v>50.1</c:v>
              </c:pt>
              <c:pt idx="3">
                <c:v>80.75</c:v>
              </c:pt>
            </c:numLit>
          </c:val>
        </c:ser>
        <c:ser>
          <c:idx val="1"/>
          <c:order val="1"/>
          <c:tx>
            <c:v>Hybrid overall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Bench 01</c:v>
              </c:pt>
              <c:pt idx="1">
                <c:v>Bench 02</c:v>
              </c:pt>
              <c:pt idx="2">
                <c:v>Bench 03</c:v>
              </c:pt>
              <c:pt idx="3">
                <c:v>Bench 05</c:v>
              </c:pt>
            </c:strLit>
          </c:cat>
          <c:val>
            <c:numLit>
              <c:formatCode>0</c:formatCode>
              <c:ptCount val="4"/>
              <c:pt idx="0">
                <c:v>27.96</c:v>
              </c:pt>
              <c:pt idx="1">
                <c:v>64.12</c:v>
              </c:pt>
              <c:pt idx="2">
                <c:v>60.08</c:v>
              </c:pt>
              <c:pt idx="3">
                <c:v>84.6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B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B4D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67A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2667A"/>
              </a:solidFill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Raw score</c:v>
          </c:tx>
          <c:spPr>
            <a:solidFill xmlns:a="http://schemas.openxmlformats.org/drawingml/2006/main">
              <a:srgbClr val="94A3B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Bench 01</c:v>
              </c:pt>
              <c:pt idx="1">
                <c:v>Bench 02</c:v>
              </c:pt>
              <c:pt idx="2">
                <c:v>Bench 03</c:v>
              </c:pt>
              <c:pt idx="3">
                <c:v>Bench 05</c:v>
              </c:pt>
            </c:strLit>
          </c:cat>
          <c:val>
            <c:numLit>
              <c:formatCode>0"%"</c:formatCode>
              <c:ptCount val="4"/>
              <c:pt idx="0">
                <c:v>0</c:v>
              </c:pt>
              <c:pt idx="1">
                <c:v>20</c:v>
              </c:pt>
              <c:pt idx="2">
                <c:v>40</c:v>
              </c:pt>
              <c:pt idx="3">
                <c:v>0</c:v>
              </c:pt>
            </c:numLit>
          </c:val>
        </c:ser>
        <c:ser>
          <c:idx val="1"/>
          <c:order val="1"/>
          <c:tx>
            <c:v>Relevant score</c:v>
          </c:tx>
          <c:spPr>
            <a:solidFill xmlns:a="http://schemas.openxmlformats.org/drawingml/2006/main">
              <a:srgbClr val="D9770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Bench 01</c:v>
              </c:pt>
              <c:pt idx="1">
                <c:v>Bench 02</c:v>
              </c:pt>
              <c:pt idx="2">
                <c:v>Bench 03</c:v>
              </c:pt>
              <c:pt idx="3">
                <c:v>Bench 05</c:v>
              </c:pt>
            </c:strLit>
          </c:cat>
          <c:val>
            <c:numLit>
              <c:formatCode>0"%"</c:formatCode>
              <c:ptCount val="4"/>
              <c:pt idx="0">
                <c:v>0</c:v>
              </c:pt>
              <c:pt idx="1">
                <c:v>100</c:v>
              </c:pt>
              <c:pt idx="2">
                <c:v>50</c:v>
              </c:pt>
              <c:pt idx="3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B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B4D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67A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2667A"/>
              </a:solidFill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D120CD-FEE4-46A5-A5F0-1C484688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01 · 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F08BF-BAF2-4289-A9CD-27C9D43A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SOTA landscape: generation is advancing faster than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0FDDF-C0F7-44E0-8721-03E5B8F5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38150" y="1219200"/>
          <a:ext xmlns:a="http://schemas.openxmlformats.org/drawingml/2006/main" cx="113157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428750"/>
                <a:gridCol w="1619250"/>
                <a:gridCol w="1476375"/>
                <a:gridCol w="1476375"/>
                <a:gridCol w="1285875"/>
                <a:gridCol w="2600325"/>
              </a:tblGrid>
              <a:tr h="838200">
                <a:tc>
                  <a:txBody>
                    <a:bodyPr/>
                    <a:lstStyle/>
                    <a:p>
                      <a:r>
                        <a:t>Method / paper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Core idea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Implementation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Strengths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Limitations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Level / domain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Relation here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t>LLM testing survey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Maps 102 studies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Task + prompt taxonomy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Broad map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Mixed metrics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Testing research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Motivates multi-metric evaluation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t>ChatUniTest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Context tests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Focal context + repair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Improves validity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Unit-test centric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Java unit tests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Useful loop; our target is E2E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t>CODAMOSA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Escapes plateaus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SBST stall → Codex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Hybrid exploration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Coverage ≠ oracles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Python unit tests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Motivates dynamic fault evidence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t>Web-form LLM study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HTML tests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 LLMs + pruning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Closest web setting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Limited oracle depth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Web forms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Still needs post-hoc evaluation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55E55-32DE-428D-B265-40275767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67A"/>
                </a:solidFill>
              </a:defRPr>
            </a:pPr>
            <a:r>
              <a:rPr sz="750" b="0">
                <a:solidFill>
                  <a:srgbClr val="52667A"/>
                </a:solidFill>
              </a:rPr>
              <a:t>Sources: arxiv.org/abs/2307.07221 · arxiv.org/abs/2305.04764 · microsoft.com/research/publication/codamosa… · arxiv.org/abs/2405.09965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27775-5C61-47F3-AEDE-C12C0681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Gap: most SOTA systems generate tests; this project evaluates the quality of already generated E2E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6EA52-E52C-44C9-94C2-54FA6920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67A"/>
                </a:solidFill>
              </a:defRPr>
            </a:pPr>
            <a:r>
              <a:rPr sz="825" b="0">
                <a:solidFill>
                  <a:srgbClr val="52667A"/>
                </a:solidFill>
              </a:rPr>
              <a:t>Literature URLs are embedded above for auditability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DB041-42CF-480C-A8E8-F08CEEE9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67A"/>
                </a:solidFill>
              </a:defRPr>
            </a:pPr>
            <a:r>
              <a:rPr sz="825" b="1">
                <a:solidFill>
                  <a:srgbClr val="52667A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83292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4248D8-FC9F-4008-8878-31D6D475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02 ·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AA58F-366A-400D-865A-A639CCDB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A passing E2E test can still be a weak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1750C-A102-4355-B425-7FAAC929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86D47-B7AA-49DD-A8CE-B80A7651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B4D"/>
                </a:solidFill>
              </a:defRPr>
            </a:pPr>
            <a:r>
              <a:rPr sz="1950" b="1">
                <a:solidFill>
                  <a:srgbClr val="172B4D"/>
                </a:solidFill>
              </a:rPr>
              <a:t>Execution answers “does it run?” — not “would it catch the faults that matter?”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A9C78-91F0-4C05-BBEB-705CBB1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2479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9D27E-61DD-4A5D-BB53-D5C9971B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</a:defRPr>
            </a:pPr>
            <a:r>
              <a:rPr sz="1200" b="1">
                <a:solidFill>
                  <a:srgbClr val="0EA5A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54B4D-E7A5-4576-9454-26A921E8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Runs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AADDF-7739-48E2-8F0D-4CFF1506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Syntax + browser</a:t>
            </a:r>
          </a:p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750DD-7F11-4DAA-A6D6-DDE3258F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22479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7E208-76A7-41C6-8C27-B8E9804A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</a:defRPr>
            </a:pPr>
            <a:r>
              <a:rPr sz="1200" b="1">
                <a:solidFill>
                  <a:srgbClr val="0EA5A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924FD-63B3-4265-AA4B-50D2198F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90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Aligns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6101A-4CB7-4904-8F11-6BAD0C01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099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Case-level</a:t>
            </a:r>
          </a:p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requirements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A97E1-D859-4BF6-9514-1DB2B155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22479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002D7-3791-4C02-9117-C7C7AC91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</a:defRPr>
            </a:pPr>
            <a:r>
              <a:rPr sz="1200" b="1">
                <a:solidFill>
                  <a:srgbClr val="0EA5A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49778-F596-416C-B589-6D6FE2F1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Asserts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A4022-33C9-407B-BE32-A78366B5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099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Specific, meaningful</a:t>
            </a:r>
          </a:p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oracles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48B05-1596-4BF1-B383-21DF3719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76450"/>
            <a:ext cx="22479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D429A-1B2E-4B9B-BF2E-98FA35E5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09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</a:defRPr>
            </a:pPr>
            <a:r>
              <a:rPr sz="1200" b="1">
                <a:solidFill>
                  <a:srgbClr val="0EA5A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1CC0A-0943-4CFF-A60D-409551C3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90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Detects faults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BEB89-174E-4F2A-AD31-9DC60F7C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Sampled relevant</a:t>
            </a:r>
          </a:p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mutants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09E2FA-6235-43E3-97E0-B7C78875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9347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33902-C2D1-40DD-945E-43462828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C7FF"/>
                </a:solidFill>
              </a:defRPr>
            </a:pPr>
            <a:r>
              <a:rPr sz="1200" b="1">
                <a:solidFill>
                  <a:srgbClr val="A7C7FF"/>
                </a:solidFill>
              </a:rPr>
              <a:t>Evaluation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C7F51A-8CA6-4128-88C1-0F47893E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Does the generated test provide credible evidence of behavioral quality — beyond merely reaching a green checkmark?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1ED525-CE15-4499-9871-1DDF36C7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67A"/>
                </a:solidFill>
              </a:defRPr>
            </a:pPr>
            <a:r>
              <a:rPr sz="825" b="0">
                <a:solidFill>
                  <a:srgbClr val="52667A"/>
                </a:solidFill>
              </a:rPr>
              <a:t>E2E generated-test quality evaluator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28F1A-C5B6-4491-85A1-A72FE6F4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67A"/>
                </a:solidFill>
              </a:defRPr>
            </a:pPr>
            <a:r>
              <a:rPr sz="825" b="1">
                <a:solidFill>
                  <a:srgbClr val="52667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4822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14C4E0-B7EA-4FE3-9B40-A42EAB2E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03 ·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E0ADF-7D6E-4213-A73D-54ECF9B1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Independent static judgment, deterministic dynamic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CFD3B-434A-4DB2-9C33-20D041FD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189B6-6EAA-4829-8A6F-7AA4C1DB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86075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79592-E127-477E-A32E-C363F2AD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86075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2F8AD-4745-4FA3-9639-2434522E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86075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063AD-522A-4E8F-BF9D-F1CE9B50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86075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07420-751C-4F7C-A2A7-00F47967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86075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9506C-7C00-42E8-89FE-D4CCD0C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585BD-F5CE-46F8-B55C-AA6ECE9C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0985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Generated test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+ benchmark 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4F77F-09EE-46A8-96C0-BA4D07B2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81250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6BEEA-C29B-4FFD-A419-465CEDE7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60985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Syntax / linter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gatekeeper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4CB0F-49C1-4D95-BE4D-4F06648B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57A91-B577-44ED-80C1-A2010486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0985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Static LLM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judges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4E630-67F5-4398-8E63-A592B09C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330F0-D01E-4322-A26F-12F4D33E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0985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Isolated execution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+ BDD diagnostic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C6826-0335-46B1-A2CE-8A021C7F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27F12-2B56-4933-9576-6DC7539F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0985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Scope-aware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mutation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0D42A-E867-4F62-A0F0-521DF6B0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81250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06246-DF7F-49FB-AC47-37515A73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60985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Report + optional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analyst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ABC83-608D-4106-911A-DD1E8AF3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05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Fail → structured result; pipeline continues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B53A90-C8E7-4425-AFA4-539CCE57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3238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6618B-5EB5-4A1D-AE08-4EF8A678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8763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25BF93-E617-4462-BA68-6E718C88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Reproducibility envelope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646D1-132C-4852-8FC3-4A1E78CD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292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local source override  •  network disabled  •  isolated workspaces  •  timeouts  •  stable mutation seed  •  artifacts saved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90648-2D7C-4805-886C-C393341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912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Dynamic evaluators never replace the static dimensions and never crash the full LangGraph pipeline.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C85273-3A39-49DB-948F-7ECCEFB4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67A"/>
                </a:solidFill>
              </a:defRPr>
            </a:pPr>
            <a:r>
              <a:rPr sz="825" b="0">
                <a:solidFill>
                  <a:srgbClr val="52667A"/>
                </a:solidFill>
              </a:rPr>
              <a:t>E2E generated-test quality evaluator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405CB0-4C64-4A2B-B06A-EFD7188F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67A"/>
                </a:solidFill>
              </a:defRPr>
            </a:pPr>
            <a:r>
              <a:rPr sz="825" b="1">
                <a:solidFill>
                  <a:srgbClr val="52667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0162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0CBE5-E9C9-44F6-8ACC-AF369B88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04 · STATIC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F66DD-A552-4A37-9B3E-51B780C6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Static agents inspect complementary failure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5FBC6-3393-46BD-B00B-418493B1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38200" y="1428750"/>
          <a:ext xmlns:a="http://schemas.openxmlformats.org/drawingml/2006/main" cx="105156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857625"/>
                <a:gridCol w="4562475"/>
              </a:tblGrid>
              <a:tr h="619125">
                <a:tc>
                  <a:txBody>
                    <a:bodyPr/>
                    <a:lstStyle/>
                    <a:p>
                      <a:r>
                        <a:t>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Question answered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Evidence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Syntax / linter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Is the script structurally runnable?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Parser and lint diagnostics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Requirement alignment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Does the scenario address the requested behavior?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Case-level requirement mapping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Assertion quality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Are outcomes checked specifically and meaningfully?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Oracle count, specificity, gaps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Hallucination / smells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Are APIs, selectors, steps, or assumptions invented?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Unsupported references and smells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Maintainability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Can the test survive ordinary UI evolution?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Selectors, duplication, naming, readability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91329-7777-4F5E-90A5-064FEB0A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515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9DA13-058E-4FED-BD16-2F9B4A32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340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F16E4-9387-424B-A222-1F9D641A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673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Independent scores + rationale + evidence → preserved in state → combined with dynamic evidence only after execution.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7AA43-B93A-4F00-9935-BFFD1C41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67A"/>
                </a:solidFill>
              </a:defRPr>
            </a:pPr>
            <a:r>
              <a:rPr sz="825" b="0">
                <a:solidFill>
                  <a:srgbClr val="52667A"/>
                </a:solidFill>
              </a:rPr>
              <a:t>E2E generated-test quality evaluator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FBCCE-37B4-4B42-911F-5EC6148C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67A"/>
                </a:solidFill>
              </a:defRPr>
            </a:pPr>
            <a:r>
              <a:rPr sz="825" b="1">
                <a:solidFill>
                  <a:srgbClr val="52667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49287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43E901-BAC0-4449-89C6-1879CC2F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05 · DYNAMIC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09F28-F95E-476F-B733-3FAE7B03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Execution is isolated and reproducible by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1CD56-87B7-4D7E-842F-CC9357B3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0A7DE-3BAC-40A6-A720-9D2B2A4F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552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29314-0892-4C6B-B44F-ECD1D823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FD985-7BA5-43A0-B7B2-FC6614B4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9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Resolve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A74F0-068C-4184-9DE1-3E2B4FF4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09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Prefer explicit local source_project_dir; network retrieval optional.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C79B3-72D5-4640-AC12-37AFCCE3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552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0A488-04EB-4FF4-8C8A-513A8F2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99A1E-3B2B-45FF-8B1C-1E61A9A7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384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Copy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C9021-699B-49BA-B697-85A6F7A1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84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Generated test and source execute in an isolated artifact directory.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96A9A-1DCA-4358-8637-81EC161A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552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202BF-0682-48E4-BB43-01D72BFD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657AE-5BEC-4E43-9F75-8BE7780F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Run scenario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49A1D-2351-4173-A94D-44465DFB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Behave + Selenium drive the browser under a hard timeout.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5732D-5261-420C-96A0-1DCFFA6E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552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E295C-6C8B-4564-8B66-C203B342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B12F9-A45F-4127-B720-7CE80810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Capture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BDB0F-096D-4097-8E16-FA5CA809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958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Return code, failed steps, stdout/stderr tails, commands, environment.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CBAA9-EB92-4DC5-960B-77C39D2A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66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D22AC-26F0-4970-8E2E-D7826640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Important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BD204-37F3-4D23-B2ED-FEA1A3A8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150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4D"/>
                </a:solidFill>
              </a:defRPr>
            </a:pPr>
            <a:r>
              <a:rPr sz="1275" b="1">
                <a:solidFill>
                  <a:srgbClr val="172B4D"/>
                </a:solidFill>
              </a:rPr>
              <a:t>BDD step-execution diagnostic is not source branch coverage; Python branch coverage is disabled for these primarily HTML/JS apps.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98F85-ADD9-41E7-A822-7D74083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67A"/>
                </a:solidFill>
              </a:defRPr>
            </a:pPr>
            <a:r>
              <a:rPr sz="825" b="0">
                <a:solidFill>
                  <a:srgbClr val="52667A"/>
                </a:solidFill>
              </a:rPr>
              <a:t>E2E generated-test quality evaluator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3820F5-89D3-4B2C-8574-625546B2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67A"/>
                </a:solidFill>
              </a:defRPr>
            </a:pPr>
            <a:r>
              <a:rPr sz="825" b="1">
                <a:solidFill>
                  <a:srgbClr val="52667A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48296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AD95BD-B824-4C20-9D33-6CFEE2B7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06 · MUTATION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E87CE-723E-4DE7-9B14-593B41AD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Scope-aware mutation separates signal from noise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679DE-9CAD-43C7-99BC-28CE0B35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62487-E670-4F2A-BD4A-DD0C4792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Every mutant runs in its own source copy; the original reference project is never modified.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1C78A-68BE-4AC5-883F-2DC860BC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6220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1DE91-CDB0-47BA-8C98-E1AA7B7A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24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CC5A9-9685-4920-A88E-5DC5739A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A8"/>
                </a:solidFill>
              </a:defRPr>
            </a:pPr>
            <a:r>
              <a:rPr sz="1125" b="1">
                <a:solidFill>
                  <a:srgbClr val="0EA5A8"/>
                </a:solidFill>
              </a:rPr>
              <a:t>GENERATE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7721C-B232-43DC-8ED5-4647ED9E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Language-aware,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non-global edits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186D0-7E63-493F-9F23-B0F12922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36220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21AEA-1EED-405D-ACE0-9FE8AB2A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324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07A22-13D5-44A5-AAD7-AD213777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812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A8"/>
                </a:solidFill>
              </a:defRPr>
            </a:pPr>
            <a:r>
              <a:rPr sz="1125" b="1">
                <a:solidFill>
                  <a:srgbClr val="0EA5A8"/>
                </a:solidFill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0E1FF-4071-4B9F-B062-49360759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336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Syntax / startup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6F5F2-4907-4645-863D-C3CA7489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6220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A4B08-BB04-4EF3-8BF0-B3153C01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324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7DC61-9045-4258-A6F5-D29B70F0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A8"/>
                </a:solidFill>
              </a:defRPr>
            </a:pPr>
            <a:r>
              <a:rPr sz="1125" b="1">
                <a:solidFill>
                  <a:srgbClr val="0EA5A8"/>
                </a:solidFill>
              </a:rPr>
              <a:t>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5A764-4DB7-4DE4-9515-1D49C765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Baseline then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one mutant at a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E9F6F-A12B-4BD5-B0C3-1E4D7FD6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324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80DA2-9081-42D1-B514-6CBA500D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812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A8"/>
                </a:solidFill>
              </a:defRPr>
            </a:pPr>
            <a:r>
              <a:rPr sz="1125" b="1">
                <a:solidFill>
                  <a:srgbClr val="0EA5A8"/>
                </a:solidFill>
              </a:rPr>
              <a:t>CLASSIFY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FF579-9112-4444-B57F-1E065FE9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Relevant · out-of-scope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· uncertain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996C2-C2F3-45E0-9629-CD3BA008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048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1B67E-6835-48B9-881A-9B2E54B5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Raw mutation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27F59-878C-4840-9A3F-71B3A15D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2EC"/>
                </a:solidFill>
              </a:defRPr>
            </a:pPr>
            <a:r>
              <a:rPr sz="1350" b="0">
                <a:solidFill>
                  <a:srgbClr val="D9E2EC"/>
                </a:solidFill>
              </a:rPr>
              <a:t>killed valid mutants ÷ all valid mutants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0E743-FA52-4F70-923C-072EAE35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9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7DC"/>
                </a:solidFill>
              </a:defRPr>
            </a:pPr>
            <a:r>
              <a:rPr sz="1200" b="0">
                <a:solidFill>
                  <a:srgbClr val="AFC7DC"/>
                </a:solidFill>
              </a:rPr>
              <a:t>Useful suite-level signal, but can penalize a case for unrelated code.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62D7F-5291-456A-AEDD-7D4228C0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5048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6E402-393B-428F-B06B-93AD1576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95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Relevant mutation 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A7BF9A-199E-4ABD-BD72-1855625A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38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killed relevant mutants ÷ relevant mutants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04511-F2EA-4F07-8315-EBFA6FA0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19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Meaningful only when relevant_mutants_total &gt; 0.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18DE83-E470-4F16-B8C8-52A997F6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Evidence is sampled (max 10 mutants here), not exhaustive application-level coverage.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C75F91-FE6E-433C-AFF8-BBDFEEF6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67A"/>
                </a:solidFill>
              </a:defRPr>
            </a:pPr>
            <a:r>
              <a:rPr sz="825" b="0">
                <a:solidFill>
                  <a:srgbClr val="52667A"/>
                </a:solidFill>
              </a:rPr>
              <a:t>E2E generated-test quality evaluator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72EE75-A5C0-4994-8F5F-16AFE5B9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67A"/>
                </a:solidFill>
              </a:defRPr>
            </a:pPr>
            <a:r>
              <a:rPr sz="825" b="1">
                <a:solidFill>
                  <a:srgbClr val="52667A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789567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4A7FD4-E298-48FB-8647-684391F6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07 · MAIN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98AE7-C3D5-42B1-B5E6-984BB3C2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Dynamic evidence changes the quality picture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AB1B8-5012-442D-8980-9E8E448D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52450" y="1333500"/>
          <a:ext xmlns:a="http://schemas.openxmlformats.org/drawingml/2006/main" cx="7239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a8e604bcdb42d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5449A-919E-4239-898D-3C21BC79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28750"/>
            <a:ext cx="3505200" cy="37719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E7376-AAC9-409D-8724-AA4EECEA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What the bars hide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2BF20-8820-42BE-AD98-EC4F3E33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Bench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C6C73-2D39-4F03-A4E6-BB3F222C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574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Runs, but static quality is only 9.95.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FB749-40FE-4F96-915E-8461F5AB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Bench 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71E71-520A-49E6-AAB0-D56A1239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38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Useful add-note test; another requirement is omitted.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71981-DE78-4424-907C-6D08E6A8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90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Bench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FF1E0-E9C2-4B72-8BD6-FC1283AD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Moderate score, with persistence gaps.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79C24-6FF5-46E9-B11F-C592668E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Bench 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7C163-ED1C-46D3-A49B-0B27C8EF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338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High score still misses a mutation-sensitive assertion.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455FF-1215-4703-82E0-6CBD3DF6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911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All four scenarios execute successfully.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A8015-3D47-4688-B415-7F04586B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67A"/>
                </a:solidFill>
              </a:defRPr>
            </a:pPr>
            <a:r>
              <a:rPr sz="825" b="0">
                <a:solidFill>
                  <a:srgbClr val="52667A"/>
                </a:solidFill>
              </a:rPr>
              <a:t>Scores are case-level; hybrid score preserves static dimensions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F307A-6E0C-4423-95D8-68EAF29F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67A"/>
                </a:solidFill>
              </a:defRPr>
            </a:pPr>
            <a:r>
              <a:rPr sz="825" b="1">
                <a:solidFill>
                  <a:srgbClr val="52667A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13379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0A72F1-CFF5-4D4D-ACEF-A2BC2D57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08 · SAMPLED MUTATION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09570-C223-482C-B1FC-ED8444C1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Relevant mutation reveals where passing tests are brittle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86660-EACF-4DB4-9BC0-B245C9AC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314450"/>
          <a:ext xmlns:a="http://schemas.openxmlformats.org/drawingml/2006/main" cx="6667500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7489afe94e48f0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2672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33450"/>
                <a:gridCol w="685800"/>
                <a:gridCol w="685800"/>
                <a:gridCol w="742950"/>
                <a:gridCol w="1219200"/>
              </a:tblGrid>
              <a:tr h="476250">
                <a:tc>
                  <a:txBody>
                    <a:bodyPr/>
                    <a:lstStyle/>
                    <a:p>
                      <a:r>
                        <a:t>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Gen.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Inv.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Rel. K/T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B01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0/0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B02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2/2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B03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2/4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B05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0/1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77A48-7E77-4C7D-8844-85F405FE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4267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69D47-1B0F-41E3-8ADF-53277B95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05325"/>
            <a:ext cx="933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Bench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D9512-0B0A-4F82-9CC1-C1DB9236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386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Relevant = N/A (0 relevant mutants), so raw 0% is not used to penalize this case.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90A8C-3656-4C09-9A56-432A6302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67A"/>
                </a:solidFill>
              </a:defRPr>
            </a:pPr>
            <a:r>
              <a:rPr sz="1275" b="1">
                <a:solidFill>
                  <a:srgbClr val="52667A"/>
                </a:solidFill>
              </a:rPr>
              <a:t>Max 10 deterministic mutants per case; invalid mutants are excluded from the denominator.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60210-5D3B-4CC0-AEAE-8020E615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67A"/>
                </a:solidFill>
              </a:defRPr>
            </a:pPr>
            <a:r>
              <a:rPr sz="825" b="0">
                <a:solidFill>
                  <a:srgbClr val="52667A"/>
                </a:solidFill>
              </a:rPr>
              <a:t>E2E generated-test quality evaluator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19561-6351-47BF-A06C-2605DA30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67A"/>
                </a:solidFill>
              </a:defRPr>
            </a:pPr>
            <a:r>
              <a:rPr sz="825" b="1">
                <a:solidFill>
                  <a:srgbClr val="52667A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135402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6208A7-1256-45A6-9FFD-81DD74A1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09 · EXPLANATORY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95C5E-0CDA-4870-8C56-D7BCD9F0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Optional analyst turns surviving mutants into repair hypotheses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9EB64-A642-4E96-BBB8-6FD3ECC3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F13F7-195A-452A-9B17-C51C47DF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2E7AC-C553-497A-931C-64453CC8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Bench 03 · Seat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99E56-B72B-4613-ABA4-002A72FE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50% relevant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9801A-EB70-4AF1-A461-326D6E28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2 of 4 relevant mutants killed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BF556-28F3-4130-BDA1-FF7A6077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Surviving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38811-03C2-4C00-AC31-19779E2E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• localStorage seat restoration</a:t>
            </a:r>
          </a:p>
          <a:p xmlns:a="http://schemas.openxmlformats.org/drawingml/2006/main"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• selected-movie index persistence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16200-600C-4AE4-B5BB-CA6816E2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9760B-FA17-4D0E-B90A-2987D714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The scenario checks seat selection, but not the reload path that reconstructs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8981C-D87C-4BD8-8A88-6C40D6BF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17BA0-CABA-4466-A368-5E954B59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62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Bench 05 · Dictionary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E6EE6-E23B-461A-8B80-DCDFC33E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0% relevant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02E40-1B15-47A1-995F-2298A1D8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0 of 1 relevant mutant killed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709B1-E62B-44CD-B705-73D010B5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Surviving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41545-742F-44EE-BC5E-683DD433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• word-example element ID changed</a:t>
            </a:r>
          </a:p>
          <a:p xmlns:a="http://schemas.openxmlformats.org/drawingml/2006/main"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• scenario still passed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3E142-D0BD-4098-A9E1-986CE5EE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31681A-09A9-430F-9A59-63F0D71B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Text presence is asserted, but not the intended result-detail element or binding.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115CB-16C8-47AD-8405-EAAE2C76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The analyst explains evidence; it does not replace deterministic scoring.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A5136-F853-4536-B81E-711A7383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67A"/>
                </a:solidFill>
              </a:defRPr>
            </a:pPr>
            <a:r>
              <a:rPr sz="825" b="0">
                <a:solidFill>
                  <a:srgbClr val="52667A"/>
                </a:solidFill>
              </a:rPr>
              <a:t>E2E generated-test quality evaluator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5A65A-0829-4612-9074-2A8D206E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67A"/>
                </a:solidFill>
              </a:defRPr>
            </a:pPr>
            <a:r>
              <a:rPr sz="825" b="1">
                <a:solidFill>
                  <a:srgbClr val="52667A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346092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6B014-33D5-4030-B29F-7612F1C1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10 · LIMITATIONS &amp;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40990-F8CD-4E04-8D99-7AF12633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What is established — and what remains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1184D-23D2-4842-BF22-2BA14DC1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166C6-0C4C-432F-BFD3-4F4162AA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Credible claims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3DC73-C501-4446-A63B-919ACE4F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F42DE-73EF-471F-9A06-FA5EFA6D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Established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EEEB4-6DFA-47E5-B0DD-4151022B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050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All four selected scenarios execute with local, network-free source overrides.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63C94-1802-4FB5-97AC-0C9E532D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2D9A1-F989-4FE3-81E6-C008CE08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Established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2E656-EC68-4B23-9E7D-FE56840C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718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Static dimensions remain independent from deterministic dynamic evaluators.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F3C2C-0886-48E8-AEFA-82EC0A34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5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92DB8-E97B-44A6-8FE6-A5D1FA41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Established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53363-D4E9-4602-9328-173873A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386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Relevant mutation prevents out-of-scope mutants from distorting case-level conclusions.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68625-94B8-4FBF-B8DF-4FF66A41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52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</a:defRPr>
            </a:pPr>
            <a:r>
              <a:rPr sz="1725" b="1">
                <a:solidFill>
                  <a:srgbClr val="D97706"/>
                </a:solidFill>
              </a:rPr>
              <a:t>Boundaries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9CC66-713A-4779-B881-F5363517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95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DDA997-FF67-4C09-9F8D-41BDCA4B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24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Limitation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481D8-7F92-43BC-A74E-F83D1B06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050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Four selected cases and ≤10 mutants each: evidence is illustrative, not exhaustive.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60B3C-703F-4F5C-832C-5F9BA0F3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76550"/>
            <a:ext cx="495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A3619-4C1C-40FE-B700-CD0699E1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90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Limitation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F2303-CBE6-4569-B902-0043E382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718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No full JS source branch coverage; BDD diagnostics must not be relabeled as branch coverage.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092B9-1A52-40A5-A4F0-167683A9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43350"/>
            <a:ext cx="495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0457E-33EE-4BE5-B3F6-6CA58D15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576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062163-719B-404C-85BA-1FFF486F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386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Scale operator sampling, add JS instrumentation, calibrate scores, and evaluate more benchmark rows.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72BDEE-AC44-43DB-8ED9-33D09743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E3B291-75DF-4B66-89BA-FA859155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C7FF"/>
                </a:solidFill>
              </a:defRPr>
            </a:pPr>
            <a:r>
              <a:rPr sz="1275" b="1">
                <a:solidFill>
                  <a:srgbClr val="A7C7FF"/>
                </a:solidFill>
              </a:rPr>
              <a:t>Takeaway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24F4B-F459-4BDA-B9A9-3C8EB1B6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626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 generated test deserves trust only when its assertions survive evidence from the behavior it claims to test.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694897-4A25-43D3-8F01-60BDD26E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67A"/>
                </a:solidFill>
              </a:defRPr>
            </a:pPr>
            <a:r>
              <a:rPr sz="825" b="0">
                <a:solidFill>
                  <a:srgbClr val="52667A"/>
                </a:solidFill>
              </a:rPr>
              <a:t>E2E generated-test quality evaluator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59EE25-0A7D-4746-B03B-ED93B3DA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67A"/>
                </a:solidFill>
              </a:defRPr>
            </a:pPr>
            <a:r>
              <a:rPr sz="825" b="1">
                <a:solidFill>
                  <a:srgbClr val="5266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2069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2026-06-28T20:00:40.3300000Z</dcterms:created>
  <dcterms:modified xsi:type="dcterms:W3CDTF">2026-06-28T20:00:40.3300000Z</dcterms:modified>
</coreProperties>
</file>